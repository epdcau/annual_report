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handoutMasterIdLst>
    <p:handoutMasterId r:id="rId14"/>
  </p:handoutMasterIdLst>
  <p:sldIdLst>
    <p:sldId id="256" r:id="rId5"/>
    <p:sldId id="257" r:id="rId6"/>
    <p:sldId id="264" r:id="rId7"/>
    <p:sldId id="258" r:id="rId8"/>
    <p:sldId id="262" r:id="rId9"/>
    <p:sldId id="259" r:id="rId10"/>
    <p:sldId id="270" r:id="rId11"/>
    <p:sldId id="260" r:id="rId12"/>
    <p:sldId id="261" r:id="rId13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97D7"/>
    <a:srgbClr val="005DAA"/>
    <a:srgbClr val="80A1B6"/>
    <a:srgbClr val="5091CD"/>
    <a:srgbClr val="5C883C"/>
    <a:srgbClr val="B0BC22"/>
    <a:srgbClr val="BF311A"/>
    <a:srgbClr val="F58025"/>
    <a:srgbClr val="9E6614"/>
    <a:srgbClr val="FFD2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823830-3773-4F7B-8378-749B966A118C}" v="2" dt="2020-01-29T17:54:31.4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>
      <p:cViewPr varScale="1">
        <p:scale>
          <a:sx n="104" d="100"/>
          <a:sy n="104" d="100"/>
        </p:scale>
        <p:origin x="14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HES Josh L" userId="152554ca-3166-475c-8520-f50cc83c3f0b" providerId="ADAL" clId="{C1823830-3773-4F7B-8378-749B966A118C}"/>
    <pc:docChg chg="modSld">
      <pc:chgData name="HUGHES Josh L" userId="152554ca-3166-475c-8520-f50cc83c3f0b" providerId="ADAL" clId="{C1823830-3773-4F7B-8378-749B966A118C}" dt="2020-01-29T17:54:31.461" v="1" actId="478"/>
      <pc:docMkLst>
        <pc:docMk/>
      </pc:docMkLst>
      <pc:sldChg chg="addSp delSp modSp">
        <pc:chgData name="HUGHES Josh L" userId="152554ca-3166-475c-8520-f50cc83c3f0b" providerId="ADAL" clId="{C1823830-3773-4F7B-8378-749B966A118C}" dt="2020-01-29T17:54:31.461" v="1" actId="478"/>
        <pc:sldMkLst>
          <pc:docMk/>
          <pc:sldMk cId="3709436120" sldId="264"/>
        </pc:sldMkLst>
        <pc:spChg chg="add del mod">
          <ac:chgData name="HUGHES Josh L" userId="152554ca-3166-475c-8520-f50cc83c3f0b" providerId="ADAL" clId="{C1823830-3773-4F7B-8378-749B966A118C}" dt="2020-01-29T17:54:31.461" v="1" actId="478"/>
          <ac:spMkLst>
            <pc:docMk/>
            <pc:sldMk cId="3709436120" sldId="264"/>
            <ac:spMk id="3" creationId="{E9FB931C-FC3B-433C-B124-3B6D5A8BAA25}"/>
          </ac:spMkLst>
        </pc:spChg>
        <pc:graphicFrameChg chg="add del">
          <ac:chgData name="HUGHES Josh L" userId="152554ca-3166-475c-8520-f50cc83c3f0b" providerId="ADAL" clId="{C1823830-3773-4F7B-8378-749B966A118C}" dt="2020-01-29T17:54:31.461" v="1" actId="478"/>
          <ac:graphicFrameMkLst>
            <pc:docMk/>
            <pc:sldMk cId="3709436120" sldId="264"/>
            <ac:graphicFrameMk id="14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EPDJFH\Desktop\Excel\Annual_Report_CAD_RM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EPDJFH\Desktop\Excel\Annual_Report_CAD_RM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EPDJFH\Desktop\Excel\Annual_Report_CAD_RM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EPDJFH\Desktop\Excel\Annual_Report_CAD_RM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EPDJFH\Desktop\Excel\Annual_Report_CAD_RM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EPDJFH\Desktop\Excel\Annual_Report_CAD_RM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EPDJFH\Desktop\Excel\Annual_Report_CAD_RM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CEPDJFH\Desktop\Excel\Annual_Report_CAD_RM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/>
              <a:t>Calls for Service</a:t>
            </a:r>
          </a:p>
          <a:p>
            <a:pPr>
              <a:defRPr/>
            </a:pPr>
            <a:r>
              <a:rPr lang="en-US" sz="1600" b="0" dirty="0"/>
              <a:t>(by Source and Year)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cfs_pivots!$A$2</c:f>
              <c:strCache>
                <c:ptCount val="1"/>
                <c:pt idx="0">
                  <c:v>Officer Initiated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l"/>
            </a:scene3d>
            <a:sp3d prstMaterial="plastic"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-1.4102564102564125E-2"/>
                  <c:y val="-8.148054021132795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20D-4CF0-B50A-0FEF0D9B346F}"/>
                </c:ext>
              </c:extLst>
            </c:dLbl>
            <c:dLbl>
              <c:idx val="1"/>
              <c:layout>
                <c:manualLayout>
                  <c:x val="-1.282051282051282E-2"/>
                  <c:y val="8.1480540211327956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20D-4CF0-B50A-0FEF0D9B346F}"/>
                </c:ext>
              </c:extLst>
            </c:dLbl>
            <c:dLbl>
              <c:idx val="2"/>
              <c:layout>
                <c:manualLayout>
                  <c:x val="-1.1538461538461539E-2"/>
                  <c:y val="-2.222222222222222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20D-4CF0-B50A-0FEF0D9B346F}"/>
                </c:ext>
              </c:extLst>
            </c:dLbl>
            <c:dLbl>
              <c:idx val="3"/>
              <c:layout>
                <c:manualLayout>
                  <c:x val="-8.9743589743590691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0D-4CF0-B50A-0FEF0D9B346F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1">
                      <a:tint val="65000"/>
                      <a:lumMod val="110000"/>
                    </a:schemeClr>
                  </a:gs>
                  <a:gs pos="88000">
                    <a:schemeClr val="accent1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1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cfs_pivots!$B$2:$B$5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cfs_pivots!$C$2:$C$5</c:f>
              <c:numCache>
                <c:formatCode>General</c:formatCode>
                <c:ptCount val="4"/>
                <c:pt idx="0">
                  <c:v>40346</c:v>
                </c:pt>
                <c:pt idx="1">
                  <c:v>34896</c:v>
                </c:pt>
                <c:pt idx="2">
                  <c:v>33672</c:v>
                </c:pt>
                <c:pt idx="3">
                  <c:v>30921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20D-4CF0-B50A-0FEF0D9B346F}"/>
            </c:ext>
          </c:extLst>
        </c:ser>
        <c:ser>
          <c:idx val="1"/>
          <c:order val="1"/>
          <c:tx>
            <c:strRef>
              <c:f>cfs_pivots!$A$6</c:f>
              <c:strCache>
                <c:ptCount val="1"/>
                <c:pt idx="0">
                  <c:v>Public Initiated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l"/>
            </a:scene3d>
            <a:sp3d prstMaterial="plastic"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5.7692307692307696E-2"/>
                  <c:y val="-6.6666666666666671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20D-4CF0-B50A-0FEF0D9B346F}"/>
                </c:ext>
              </c:extLst>
            </c:dLbl>
            <c:dLbl>
              <c:idx val="1"/>
              <c:layout>
                <c:manualLayout>
                  <c:x val="5.7692307692307696E-2"/>
                  <c:y val="-1.11111111111111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20D-4CF0-B50A-0FEF0D9B346F}"/>
                </c:ext>
              </c:extLst>
            </c:dLbl>
            <c:dLbl>
              <c:idx val="2"/>
              <c:layout>
                <c:manualLayout>
                  <c:x val="5.7692307692307696E-2"/>
                  <c:y val="-1.33333333333333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20D-4CF0-B50A-0FEF0D9B346F}"/>
                </c:ext>
              </c:extLst>
            </c:dLbl>
            <c:dLbl>
              <c:idx val="3"/>
              <c:layout>
                <c:manualLayout>
                  <c:x val="5.7692307692307696E-2"/>
                  <c:y val="-1.33333333333333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20D-4CF0-B50A-0FEF0D9B346F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2">
                      <a:tint val="65000"/>
                      <a:lumMod val="110000"/>
                    </a:schemeClr>
                  </a:gs>
                  <a:gs pos="88000">
                    <a:schemeClr val="accent2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2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cfs_pivots!$B$2:$B$5</c:f>
              <c:numCache>
                <c:formatCode>General</c:formatCode>
                <c:ptCount val="4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</c:numCache>
            </c:numRef>
          </c:cat>
          <c:val>
            <c:numRef>
              <c:f>cfs_pivots!$C$6:$C$9</c:f>
              <c:numCache>
                <c:formatCode>General</c:formatCode>
                <c:ptCount val="4"/>
                <c:pt idx="0">
                  <c:v>82899</c:v>
                </c:pt>
                <c:pt idx="1">
                  <c:v>92832</c:v>
                </c:pt>
                <c:pt idx="2">
                  <c:v>96014</c:v>
                </c:pt>
                <c:pt idx="3">
                  <c:v>96504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020D-4CF0-B50A-0FEF0D9B34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209208416"/>
        <c:axId val="209208808"/>
        <c:axId val="0"/>
      </c:bar3DChart>
      <c:catAx>
        <c:axId val="2092084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208808"/>
        <c:crosses val="autoZero"/>
        <c:auto val="1"/>
        <c:lblAlgn val="ctr"/>
        <c:lblOffset val="100"/>
        <c:noMultiLvlLbl val="0"/>
      </c:catAx>
      <c:valAx>
        <c:axId val="209208808"/>
        <c:scaling>
          <c:orientation val="minMax"/>
          <c:max val="120000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Calls for Service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2084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Reported Crime Occurrences</a:t>
            </a:r>
          </a:p>
          <a:p>
            <a:pPr>
              <a:defRPr/>
            </a:pPr>
            <a:r>
              <a:rPr lang="en-US" sz="1600" dirty="0"/>
              <a:t>(by Category)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rms_pivots!$I$4</c:f>
              <c:strCache>
                <c:ptCount val="1"/>
                <c:pt idx="0">
                  <c:v>3yr Avg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1.6666666666666666E-2"/>
                  <c:y val="-0.0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251-42E6-8573-09D3D7478C54}"/>
                </c:ext>
              </c:extLst>
            </c:dLbl>
            <c:dLbl>
              <c:idx val="1"/>
              <c:layout>
                <c:manualLayout>
                  <c:x val="4.4871794871794872E-2"/>
                  <c:y val="-1.11111111111111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251-42E6-8573-09D3D7478C54}"/>
                </c:ext>
              </c:extLst>
            </c:dLbl>
            <c:dLbl>
              <c:idx val="2"/>
              <c:layout>
                <c:manualLayout>
                  <c:x val="4.1025641025641026E-2"/>
                  <c:y val="-8.8888888888889288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251-42E6-8573-09D3D7478C54}"/>
                </c:ext>
              </c:extLst>
            </c:dLbl>
            <c:dLbl>
              <c:idx val="3"/>
              <c:layout>
                <c:manualLayout>
                  <c:x val="2.9487179487179393E-2"/>
                  <c:y val="-1.11111111111111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251-42E6-8573-09D3D7478C54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1">
                      <a:tint val="65000"/>
                      <a:lumMod val="110000"/>
                    </a:schemeClr>
                  </a:gs>
                  <a:gs pos="88000">
                    <a:schemeClr val="accent1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1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rms_pivots!$H$5:$H$8</c:f>
              <c:strCache>
                <c:ptCount val="4"/>
                <c:pt idx="0">
                  <c:v>Person</c:v>
                </c:pt>
                <c:pt idx="1">
                  <c:v>Property</c:v>
                </c:pt>
                <c:pt idx="2">
                  <c:v>Society</c:v>
                </c:pt>
                <c:pt idx="3">
                  <c:v>Oregon Specific</c:v>
                </c:pt>
              </c:strCache>
            </c:strRef>
          </c:cat>
          <c:val>
            <c:numRef>
              <c:f>rms_pivots!$I$5:$I$8</c:f>
              <c:numCache>
                <c:formatCode>0.0</c:formatCode>
                <c:ptCount val="4"/>
                <c:pt idx="0">
                  <c:v>2591.6666666666665</c:v>
                </c:pt>
                <c:pt idx="1">
                  <c:v>9642.3333333333339</c:v>
                </c:pt>
                <c:pt idx="2">
                  <c:v>6643.333333333333</c:v>
                </c:pt>
                <c:pt idx="3">
                  <c:v>3752.6666666666665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251-42E6-8573-09D3D7478C54}"/>
            </c:ext>
          </c:extLst>
        </c:ser>
        <c:ser>
          <c:idx val="1"/>
          <c:order val="1"/>
          <c:tx>
            <c:strRef>
              <c:f>rms_pivots!$J$4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4.1025641025640977E-2"/>
                  <c:y val="-1.11111111111111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251-42E6-8573-09D3D7478C54}"/>
                </c:ext>
              </c:extLst>
            </c:dLbl>
            <c:dLbl>
              <c:idx val="1"/>
              <c:layout>
                <c:manualLayout>
                  <c:x val="4.230769230769231E-2"/>
                  <c:y val="-4.4444444444444444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251-42E6-8573-09D3D7478C54}"/>
                </c:ext>
              </c:extLst>
            </c:dLbl>
            <c:dLbl>
              <c:idx val="2"/>
              <c:layout>
                <c:manualLayout>
                  <c:x val="4.6153846153846156E-2"/>
                  <c:y val="-4.444444444444526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251-42E6-8573-09D3D7478C54}"/>
                </c:ext>
              </c:extLst>
            </c:dLbl>
            <c:dLbl>
              <c:idx val="3"/>
              <c:layout>
                <c:manualLayout>
                  <c:x val="4.3589743589743588E-2"/>
                  <c:y val="-8.888888888888888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251-42E6-8573-09D3D7478C54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2">
                      <a:tint val="65000"/>
                      <a:lumMod val="110000"/>
                    </a:schemeClr>
                  </a:gs>
                  <a:gs pos="88000">
                    <a:schemeClr val="accent2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2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rms_pivots!$H$5:$H$8</c:f>
              <c:strCache>
                <c:ptCount val="4"/>
                <c:pt idx="0">
                  <c:v>Person</c:v>
                </c:pt>
                <c:pt idx="1">
                  <c:v>Property</c:v>
                </c:pt>
                <c:pt idx="2">
                  <c:v>Society</c:v>
                </c:pt>
                <c:pt idx="3">
                  <c:v>Oregon Specific</c:v>
                </c:pt>
              </c:strCache>
            </c:strRef>
          </c:cat>
          <c:val>
            <c:numRef>
              <c:f>rms_pivots!$J$5:$J$8</c:f>
              <c:numCache>
                <c:formatCode>General</c:formatCode>
                <c:ptCount val="4"/>
                <c:pt idx="0">
                  <c:v>2783</c:v>
                </c:pt>
                <c:pt idx="1">
                  <c:v>8724</c:v>
                </c:pt>
                <c:pt idx="2">
                  <c:v>6100</c:v>
                </c:pt>
                <c:pt idx="3">
                  <c:v>3785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251-42E6-8573-09D3D7478C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209209592"/>
        <c:axId val="209209984"/>
        <c:axId val="0"/>
      </c:bar3DChart>
      <c:catAx>
        <c:axId val="209209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209984"/>
        <c:crosses val="autoZero"/>
        <c:auto val="1"/>
        <c:lblAlgn val="ctr"/>
        <c:lblOffset val="100"/>
        <c:noMultiLvlLbl val="0"/>
      </c:catAx>
      <c:valAx>
        <c:axId val="20920998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Crime Occurrences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209592"/>
        <c:crosses val="autoZero"/>
        <c:crossBetween val="between"/>
        <c:majorUnit val="2000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Reported Crime Occurrences</a:t>
            </a:r>
          </a:p>
          <a:p>
            <a:pPr>
              <a:defRPr/>
            </a:pPr>
            <a:r>
              <a:rPr lang="en-US" sz="1600" dirty="0"/>
              <a:t>(High-Frequency Person Offenses)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rms_pivots!$J$15</c:f>
              <c:strCache>
                <c:ptCount val="1"/>
                <c:pt idx="0">
                  <c:v>3yr Avg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2.6923076923076876E-2"/>
                  <c:y val="-7.777777777777779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489-480C-8604-A92B217AD984}"/>
                </c:ext>
              </c:extLst>
            </c:dLbl>
            <c:dLbl>
              <c:idx val="1"/>
              <c:layout>
                <c:manualLayout>
                  <c:x val="4.1025641025640928E-2"/>
                  <c:y val="-4.00000000000000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489-480C-8604-A92B217AD984}"/>
                </c:ext>
              </c:extLst>
            </c:dLbl>
            <c:dLbl>
              <c:idx val="2"/>
              <c:layout>
                <c:manualLayout>
                  <c:x val="4.4871794871794775E-2"/>
                  <c:y val="-2.66666666666666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489-480C-8604-A92B217AD984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4">
                      <a:tint val="65000"/>
                      <a:lumMod val="110000"/>
                    </a:schemeClr>
                  </a:gs>
                  <a:gs pos="88000">
                    <a:schemeClr val="accent4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4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rms_pivots!$I$16:$I$18</c:f>
              <c:strCache>
                <c:ptCount val="3"/>
                <c:pt idx="0">
                  <c:v>Assault</c:v>
                </c:pt>
                <c:pt idx="1">
                  <c:v>Sex Crimes</c:v>
                </c:pt>
                <c:pt idx="2">
                  <c:v>Robbery</c:v>
                </c:pt>
              </c:strCache>
            </c:strRef>
          </c:cat>
          <c:val>
            <c:numRef>
              <c:f>rms_pivots!$J$16:$J$18</c:f>
              <c:numCache>
                <c:formatCode>0.0</c:formatCode>
                <c:ptCount val="3"/>
                <c:pt idx="0">
                  <c:v>1836.6666666666667</c:v>
                </c:pt>
                <c:pt idx="1">
                  <c:v>367</c:v>
                </c:pt>
                <c:pt idx="2">
                  <c:v>187.66666666666666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489-480C-8604-A92B217AD984}"/>
            </c:ext>
          </c:extLst>
        </c:ser>
        <c:ser>
          <c:idx val="1"/>
          <c:order val="1"/>
          <c:tx>
            <c:strRef>
              <c:f>rms_pivots!$K$15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4.7435897435897392E-2"/>
                  <c:y val="-3.11111111111111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489-480C-8604-A92B217AD984}"/>
                </c:ext>
              </c:extLst>
            </c:dLbl>
            <c:dLbl>
              <c:idx val="1"/>
              <c:layout>
                <c:manualLayout>
                  <c:x val="4.1025641025641026E-2"/>
                  <c:y val="-2.66666666666666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489-480C-8604-A92B217AD984}"/>
                </c:ext>
              </c:extLst>
            </c:dLbl>
            <c:dLbl>
              <c:idx val="2"/>
              <c:layout>
                <c:manualLayout>
                  <c:x val="4.3589743589743588E-2"/>
                  <c:y val="-3.1111111111111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489-480C-8604-A92B217AD984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5">
                      <a:tint val="65000"/>
                      <a:lumMod val="110000"/>
                    </a:schemeClr>
                  </a:gs>
                  <a:gs pos="88000">
                    <a:schemeClr val="accent5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5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rms_pivots!$I$16:$I$18</c:f>
              <c:strCache>
                <c:ptCount val="3"/>
                <c:pt idx="0">
                  <c:v>Assault</c:v>
                </c:pt>
                <c:pt idx="1">
                  <c:v>Sex Crimes</c:v>
                </c:pt>
                <c:pt idx="2">
                  <c:v>Robbery</c:v>
                </c:pt>
              </c:strCache>
            </c:strRef>
          </c:cat>
          <c:val>
            <c:numRef>
              <c:f>rms_pivots!$K$16:$K$18</c:f>
              <c:numCache>
                <c:formatCode>General</c:formatCode>
                <c:ptCount val="3"/>
                <c:pt idx="0">
                  <c:v>1966</c:v>
                </c:pt>
                <c:pt idx="1">
                  <c:v>415</c:v>
                </c:pt>
                <c:pt idx="2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489-480C-8604-A92B217AD98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209210768"/>
        <c:axId val="209546328"/>
        <c:axId val="0"/>
      </c:bar3DChart>
      <c:catAx>
        <c:axId val="2092107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546328"/>
        <c:crosses val="autoZero"/>
        <c:auto val="1"/>
        <c:lblAlgn val="ctr"/>
        <c:lblOffset val="100"/>
        <c:noMultiLvlLbl val="0"/>
      </c:catAx>
      <c:valAx>
        <c:axId val="2095463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Crime Occurrences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210768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Reported Crime Occurrences</a:t>
            </a:r>
          </a:p>
          <a:p>
            <a:pPr>
              <a:defRPr/>
            </a:pPr>
            <a:r>
              <a:rPr lang="en-US" sz="1600" dirty="0"/>
              <a:t>(Low-Frequency Person Offenses)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rms_pivots!$J$15</c:f>
              <c:strCache>
                <c:ptCount val="1"/>
                <c:pt idx="0">
                  <c:v>3yr Avg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3.3333333333333284E-2"/>
                  <c:y val="-2.88888888888888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043-4130-8E34-3FF8500BDF5F}"/>
                </c:ext>
              </c:extLst>
            </c:dLbl>
            <c:dLbl>
              <c:idx val="1"/>
              <c:layout>
                <c:manualLayout>
                  <c:x val="3.5897435897435943E-2"/>
                  <c:y val="-7.11111111111111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043-4130-8E34-3FF8500BDF5F}"/>
                </c:ext>
              </c:extLst>
            </c:dLbl>
            <c:dLbl>
              <c:idx val="2"/>
              <c:layout>
                <c:manualLayout>
                  <c:x val="4.8717948717948621E-2"/>
                  <c:y val="-5.33333333333333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043-4130-8E34-3FF8500BDF5F}"/>
                </c:ext>
              </c:extLst>
            </c:dLbl>
            <c:dLbl>
              <c:idx val="3"/>
              <c:layout>
                <c:manualLayout>
                  <c:x val="4.1025641025641123E-2"/>
                  <c:y val="-2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043-4130-8E34-3FF8500BDF5F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4">
                      <a:tint val="65000"/>
                      <a:lumMod val="110000"/>
                    </a:schemeClr>
                  </a:gs>
                  <a:gs pos="88000">
                    <a:schemeClr val="accent4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4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rms_pivots!$I$19:$I$22</c:f>
              <c:strCache>
                <c:ptCount val="4"/>
                <c:pt idx="0">
                  <c:v>Rape</c:v>
                </c:pt>
                <c:pt idx="1">
                  <c:v>Family Offense</c:v>
                </c:pt>
                <c:pt idx="2">
                  <c:v>Kidnapping</c:v>
                </c:pt>
                <c:pt idx="3">
                  <c:v>Homicide</c:v>
                </c:pt>
              </c:strCache>
            </c:strRef>
          </c:cat>
          <c:val>
            <c:numRef>
              <c:f>rms_pivots!$J$19:$J$22</c:f>
              <c:numCache>
                <c:formatCode>0.0</c:formatCode>
                <c:ptCount val="4"/>
                <c:pt idx="0">
                  <c:v>86.666666666666671</c:v>
                </c:pt>
                <c:pt idx="1">
                  <c:v>78</c:v>
                </c:pt>
                <c:pt idx="2">
                  <c:v>30</c:v>
                </c:pt>
                <c:pt idx="3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043-4130-8E34-3FF8500BDF5F}"/>
            </c:ext>
          </c:extLst>
        </c:ser>
        <c:ser>
          <c:idx val="1"/>
          <c:order val="1"/>
          <c:tx>
            <c:strRef>
              <c:f>rms_pivots!$K$15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3.3333333333333284E-2"/>
                  <c:y val="-1.33333333333333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043-4130-8E34-3FF8500BDF5F}"/>
                </c:ext>
              </c:extLst>
            </c:dLbl>
            <c:dLbl>
              <c:idx val="1"/>
              <c:layout>
                <c:manualLayout>
                  <c:x val="2.8205128205128206E-2"/>
                  <c:y val="-1.777777777777781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043-4130-8E34-3FF8500BDF5F}"/>
                </c:ext>
              </c:extLst>
            </c:dLbl>
            <c:dLbl>
              <c:idx val="2"/>
              <c:layout>
                <c:manualLayout>
                  <c:x val="4.7435897435897344E-2"/>
                  <c:y val="-2.666666666666674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043-4130-8E34-3FF8500BDF5F}"/>
                </c:ext>
              </c:extLst>
            </c:dLbl>
            <c:dLbl>
              <c:idx val="3"/>
              <c:layout>
                <c:manualLayout>
                  <c:x val="3.9743589743589838E-2"/>
                  <c:y val="-2.222222222222238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043-4130-8E34-3FF8500BDF5F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5">
                      <a:tint val="65000"/>
                      <a:lumMod val="110000"/>
                    </a:schemeClr>
                  </a:gs>
                  <a:gs pos="88000">
                    <a:schemeClr val="accent5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5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rms_pivots!$I$19:$I$22</c:f>
              <c:strCache>
                <c:ptCount val="4"/>
                <c:pt idx="0">
                  <c:v>Rape</c:v>
                </c:pt>
                <c:pt idx="1">
                  <c:v>Family Offense</c:v>
                </c:pt>
                <c:pt idx="2">
                  <c:v>Kidnapping</c:v>
                </c:pt>
                <c:pt idx="3">
                  <c:v>Homicide</c:v>
                </c:pt>
              </c:strCache>
            </c:strRef>
          </c:cat>
          <c:val>
            <c:numRef>
              <c:f>rms_pivots!$K$19:$K$22</c:f>
              <c:numCache>
                <c:formatCode>General</c:formatCode>
                <c:ptCount val="4"/>
                <c:pt idx="0">
                  <c:v>89</c:v>
                </c:pt>
                <c:pt idx="1">
                  <c:v>86</c:v>
                </c:pt>
                <c:pt idx="2">
                  <c:v>34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8043-4130-8E34-3FF8500BDF5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209547112"/>
        <c:axId val="209547504"/>
        <c:axId val="0"/>
      </c:bar3DChart>
      <c:catAx>
        <c:axId val="209547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547504"/>
        <c:crosses val="autoZero"/>
        <c:auto val="1"/>
        <c:lblAlgn val="ctr"/>
        <c:lblOffset val="100"/>
        <c:noMultiLvlLbl val="0"/>
      </c:catAx>
      <c:valAx>
        <c:axId val="209547504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Crime Occurrences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547112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Reported Crime Occurrences</a:t>
            </a:r>
          </a:p>
          <a:p>
            <a:pPr>
              <a:defRPr/>
            </a:pPr>
            <a:r>
              <a:rPr lang="en-US" sz="1600" dirty="0"/>
              <a:t>(High-Frequency Property Offenses)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rms_pivots!$J$15</c:f>
              <c:strCache>
                <c:ptCount val="1"/>
                <c:pt idx="0">
                  <c:v>3yr Avg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4.7435897435897392E-2"/>
                  <c:y val="-2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1687-471B-BD8D-0263CEAA96B6}"/>
                </c:ext>
              </c:extLst>
            </c:dLbl>
            <c:dLbl>
              <c:idx val="1"/>
              <c:layout>
                <c:manualLayout>
                  <c:x val="1.7948717948717902E-2"/>
                  <c:y val="-5.33333333333333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87-471B-BD8D-0263CEAA96B6}"/>
                </c:ext>
              </c:extLst>
            </c:dLbl>
            <c:dLbl>
              <c:idx val="2"/>
              <c:layout>
                <c:manualLayout>
                  <c:x val="4.7435897435897434E-2"/>
                  <c:y val="-4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1687-471B-BD8D-0263CEAA96B6}"/>
                </c:ext>
              </c:extLst>
            </c:dLbl>
            <c:dLbl>
              <c:idx val="3"/>
              <c:layout>
                <c:manualLayout>
                  <c:x val="3.3333333333333243E-2"/>
                  <c:y val="-3.555555555555555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87-471B-BD8D-0263CEAA96B6}"/>
                </c:ext>
              </c:extLst>
            </c:dLbl>
            <c:dLbl>
              <c:idx val="4"/>
              <c:layout>
                <c:manualLayout>
                  <c:x val="3.5897435897435895E-2"/>
                  <c:y val="-3.1111111111111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687-471B-BD8D-0263CEAA96B6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3">
                      <a:tint val="65000"/>
                      <a:lumMod val="110000"/>
                    </a:schemeClr>
                  </a:gs>
                  <a:gs pos="88000">
                    <a:schemeClr val="accent3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3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rms_pivots!$I$30:$I$34</c:f>
              <c:strCache>
                <c:ptCount val="5"/>
                <c:pt idx="0">
                  <c:v>LARCENY</c:v>
                </c:pt>
                <c:pt idx="1">
                  <c:v>VANDALISM</c:v>
                </c:pt>
                <c:pt idx="2">
                  <c:v>BURGLARY</c:v>
                </c:pt>
                <c:pt idx="3">
                  <c:v>FRAUD</c:v>
                </c:pt>
                <c:pt idx="4">
                  <c:v>MV THEFT</c:v>
                </c:pt>
              </c:strCache>
            </c:strRef>
          </c:cat>
          <c:val>
            <c:numRef>
              <c:f>rms_pivots!$J$30:$J$34</c:f>
              <c:numCache>
                <c:formatCode>0.0</c:formatCode>
                <c:ptCount val="5"/>
                <c:pt idx="0">
                  <c:v>4819.333333333333</c:v>
                </c:pt>
                <c:pt idx="1">
                  <c:v>1488.6666666666667</c:v>
                </c:pt>
                <c:pt idx="2">
                  <c:v>1124.6666666666667</c:v>
                </c:pt>
                <c:pt idx="3">
                  <c:v>970.33333333333337</c:v>
                </c:pt>
                <c:pt idx="4">
                  <c:v>803.33333333333337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687-471B-BD8D-0263CEAA96B6}"/>
            </c:ext>
          </c:extLst>
        </c:ser>
        <c:ser>
          <c:idx val="1"/>
          <c:order val="1"/>
          <c:tx>
            <c:strRef>
              <c:f>rms_pivots!$K$15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4.4871794871794872E-2"/>
                  <c:y val="-2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687-471B-BD8D-0263CEAA96B6}"/>
                </c:ext>
              </c:extLst>
            </c:dLbl>
            <c:dLbl>
              <c:idx val="1"/>
              <c:layout>
                <c:manualLayout>
                  <c:x val="4.7435897435897392E-2"/>
                  <c:y val="-2.22222222222223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1687-471B-BD8D-0263CEAA96B6}"/>
                </c:ext>
              </c:extLst>
            </c:dLbl>
            <c:dLbl>
              <c:idx val="2"/>
              <c:layout>
                <c:manualLayout>
                  <c:x val="3.7179487179487179E-2"/>
                  <c:y val="-2.66666666666666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1687-471B-BD8D-0263CEAA96B6}"/>
                </c:ext>
              </c:extLst>
            </c:dLbl>
            <c:dLbl>
              <c:idx val="3"/>
              <c:layout>
                <c:manualLayout>
                  <c:x val="3.3333333333333333E-2"/>
                  <c:y val="-2.444444444444444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687-471B-BD8D-0263CEAA96B6}"/>
                </c:ext>
              </c:extLst>
            </c:dLbl>
            <c:dLbl>
              <c:idx val="4"/>
              <c:layout>
                <c:manualLayout>
                  <c:x val="3.8461538461538464E-2"/>
                  <c:y val="-2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1687-471B-BD8D-0263CEAA96B6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6">
                      <a:tint val="65000"/>
                      <a:lumMod val="110000"/>
                    </a:schemeClr>
                  </a:gs>
                  <a:gs pos="88000">
                    <a:schemeClr val="accent6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6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rms_pivots!$I$30:$I$34</c:f>
              <c:strCache>
                <c:ptCount val="5"/>
                <c:pt idx="0">
                  <c:v>LARCENY</c:v>
                </c:pt>
                <c:pt idx="1">
                  <c:v>VANDALISM</c:v>
                </c:pt>
                <c:pt idx="2">
                  <c:v>BURGLARY</c:v>
                </c:pt>
                <c:pt idx="3">
                  <c:v>FRAUD</c:v>
                </c:pt>
                <c:pt idx="4">
                  <c:v>MV THEFT</c:v>
                </c:pt>
              </c:strCache>
            </c:strRef>
          </c:cat>
          <c:val>
            <c:numRef>
              <c:f>rms_pivots!$K$30:$K$34</c:f>
              <c:numCache>
                <c:formatCode>General</c:formatCode>
                <c:ptCount val="5"/>
                <c:pt idx="0">
                  <c:v>4235</c:v>
                </c:pt>
                <c:pt idx="1">
                  <c:v>1734</c:v>
                </c:pt>
                <c:pt idx="2">
                  <c:v>825</c:v>
                </c:pt>
                <c:pt idx="3">
                  <c:v>837</c:v>
                </c:pt>
                <c:pt idx="4">
                  <c:v>694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1687-471B-BD8D-0263CEAA96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209548288"/>
        <c:axId val="209548680"/>
        <c:axId val="0"/>
      </c:bar3DChart>
      <c:catAx>
        <c:axId val="2095482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548680"/>
        <c:crosses val="autoZero"/>
        <c:auto val="1"/>
        <c:lblAlgn val="ctr"/>
        <c:lblOffset val="100"/>
        <c:tickLblSkip val="1"/>
        <c:noMultiLvlLbl val="0"/>
      </c:catAx>
      <c:valAx>
        <c:axId val="209548680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Crime Occurrences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548288"/>
        <c:crosses val="autoZero"/>
        <c:crossBetween val="between"/>
        <c:majorUnit val="1000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/>
              <a:t>Reported Crime Occurrences</a:t>
            </a:r>
          </a:p>
          <a:p>
            <a:pPr>
              <a:defRPr/>
            </a:pPr>
            <a:r>
              <a:rPr lang="en-US" sz="1600" dirty="0"/>
              <a:t>(Low-Frequency Property Offenses)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rms_pivots!$J$15</c:f>
              <c:strCache>
                <c:ptCount val="1"/>
                <c:pt idx="0">
                  <c:v>3yr Avg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2.3076923076923078E-2"/>
                  <c:y val="-4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0966-4DF3-8346-2AA429C391DD}"/>
                </c:ext>
              </c:extLst>
            </c:dLbl>
            <c:dLbl>
              <c:idx val="1"/>
              <c:layout>
                <c:manualLayout>
                  <c:x val="4.3589743589743546E-2"/>
                  <c:y val="-2.44444444444445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966-4DF3-8346-2AA429C391DD}"/>
                </c:ext>
              </c:extLst>
            </c:dLbl>
            <c:dLbl>
              <c:idx val="2"/>
              <c:layout>
                <c:manualLayout>
                  <c:x val="3.9743589743589741E-2"/>
                  <c:y val="-2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0966-4DF3-8346-2AA429C391DD}"/>
                </c:ext>
              </c:extLst>
            </c:dLbl>
            <c:dLbl>
              <c:idx val="3"/>
              <c:layout>
                <c:manualLayout>
                  <c:x val="3.3333333333333243E-2"/>
                  <c:y val="-2.888888888888888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966-4DF3-8346-2AA429C391DD}"/>
                </c:ext>
              </c:extLst>
            </c:dLbl>
            <c:dLbl>
              <c:idx val="4"/>
              <c:layout>
                <c:manualLayout>
                  <c:x val="3.4615384615384617E-2"/>
                  <c:y val="-0.0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966-4DF3-8346-2AA429C391DD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3">
                      <a:tint val="65000"/>
                      <a:lumMod val="110000"/>
                    </a:schemeClr>
                  </a:gs>
                  <a:gs pos="88000">
                    <a:schemeClr val="accent3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3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rms_pivots!$I$35:$I$39</c:f>
              <c:strCache>
                <c:ptCount val="5"/>
                <c:pt idx="0">
                  <c:v>FORGERY</c:v>
                </c:pt>
                <c:pt idx="1">
                  <c:v>STOLEN PROPERTY</c:v>
                </c:pt>
                <c:pt idx="2">
                  <c:v>ARSON</c:v>
                </c:pt>
                <c:pt idx="3">
                  <c:v>EXTORTION</c:v>
                </c:pt>
                <c:pt idx="4">
                  <c:v>EMBEZZLEMENT</c:v>
                </c:pt>
              </c:strCache>
            </c:strRef>
          </c:cat>
          <c:val>
            <c:numRef>
              <c:f>rms_pivots!$J$35:$J$39</c:f>
              <c:numCache>
                <c:formatCode>0.0</c:formatCode>
                <c:ptCount val="5"/>
                <c:pt idx="0">
                  <c:v>287</c:v>
                </c:pt>
                <c:pt idx="1">
                  <c:v>74.666666666666671</c:v>
                </c:pt>
                <c:pt idx="2">
                  <c:v>59</c:v>
                </c:pt>
                <c:pt idx="3">
                  <c:v>8.3333333333333339</c:v>
                </c:pt>
                <c:pt idx="4">
                  <c:v>7.333333333333333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966-4DF3-8346-2AA429C391DD}"/>
            </c:ext>
          </c:extLst>
        </c:ser>
        <c:ser>
          <c:idx val="1"/>
          <c:order val="1"/>
          <c:tx>
            <c:strRef>
              <c:f>rms_pivots!$K$15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4.7435897435897434E-2"/>
                  <c:y val="-1.111111111111111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966-4DF3-8346-2AA429C391DD}"/>
                </c:ext>
              </c:extLst>
            </c:dLbl>
            <c:dLbl>
              <c:idx val="1"/>
              <c:layout>
                <c:manualLayout>
                  <c:x val="4.2307692307692352E-2"/>
                  <c:y val="-2.444444444444452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966-4DF3-8346-2AA429C391DD}"/>
                </c:ext>
              </c:extLst>
            </c:dLbl>
            <c:dLbl>
              <c:idx val="2"/>
              <c:layout>
                <c:manualLayout>
                  <c:x val="4.4871794871794872E-2"/>
                  <c:y val="-1.777777777777769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966-4DF3-8346-2AA429C391DD}"/>
                </c:ext>
              </c:extLst>
            </c:dLbl>
            <c:dLbl>
              <c:idx val="3"/>
              <c:layout>
                <c:manualLayout>
                  <c:x val="3.5897435897435805E-2"/>
                  <c:y val="-0.0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0966-4DF3-8346-2AA429C391DD}"/>
                </c:ext>
              </c:extLst>
            </c:dLbl>
            <c:dLbl>
              <c:idx val="4"/>
              <c:layout>
                <c:manualLayout>
                  <c:x val="3.461538461538452E-2"/>
                  <c:y val="-0.0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966-4DF3-8346-2AA429C391DD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6">
                      <a:tint val="65000"/>
                      <a:lumMod val="110000"/>
                    </a:schemeClr>
                  </a:gs>
                  <a:gs pos="88000">
                    <a:schemeClr val="accent6">
                      <a:tint val="90000"/>
                    </a:schemeClr>
                  </a:gs>
                </a:gsLst>
                <a:lin ang="5400000" scaled="0"/>
              </a:gradFill>
              <a:ln w="12700" cap="rnd" cmpd="sng" algn="ctr">
                <a:solidFill>
                  <a:schemeClr val="accent6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rms_pivots!$I$35:$I$39</c:f>
              <c:strCache>
                <c:ptCount val="5"/>
                <c:pt idx="0">
                  <c:v>FORGERY</c:v>
                </c:pt>
                <c:pt idx="1">
                  <c:v>STOLEN PROPERTY</c:v>
                </c:pt>
                <c:pt idx="2">
                  <c:v>ARSON</c:v>
                </c:pt>
                <c:pt idx="3">
                  <c:v>EXTORTION</c:v>
                </c:pt>
                <c:pt idx="4">
                  <c:v>EMBEZZLEMENT</c:v>
                </c:pt>
              </c:strCache>
            </c:strRef>
          </c:cat>
          <c:val>
            <c:numRef>
              <c:f>rms_pivots!$K$35:$K$39</c:f>
              <c:numCache>
                <c:formatCode>General</c:formatCode>
                <c:ptCount val="5"/>
                <c:pt idx="0">
                  <c:v>300</c:v>
                </c:pt>
                <c:pt idx="1">
                  <c:v>37</c:v>
                </c:pt>
                <c:pt idx="2">
                  <c:v>45</c:v>
                </c:pt>
                <c:pt idx="3">
                  <c:v>14</c:v>
                </c:pt>
                <c:pt idx="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966-4DF3-8346-2AA429C391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70703720"/>
        <c:axId val="70704112"/>
        <c:axId val="0"/>
      </c:bar3DChart>
      <c:catAx>
        <c:axId val="707037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704112"/>
        <c:crosses val="autoZero"/>
        <c:auto val="1"/>
        <c:lblAlgn val="ctr"/>
        <c:lblOffset val="100"/>
        <c:tickLblSkip val="1"/>
        <c:noMultiLvlLbl val="0"/>
      </c:catAx>
      <c:valAx>
        <c:axId val="707041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Crime Occurrences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0703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Reported Crime Occurrences</a:t>
            </a:r>
          </a:p>
          <a:p>
            <a:pPr>
              <a:defRPr/>
            </a:pPr>
            <a:r>
              <a:rPr lang="en-US" sz="1600" dirty="0"/>
              <a:t>(High-Frequency Society Offenses)</a:t>
            </a:r>
          </a:p>
        </c:rich>
      </c:tx>
      <c:layout>
        <c:manualLayout>
          <c:xMode val="edge"/>
          <c:yMode val="edge"/>
          <c:x val="0.29229546344990731"/>
          <c:y val="1.63078930202217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rms_pivots!$J$15</c:f>
              <c:strCache>
                <c:ptCount val="1"/>
                <c:pt idx="0">
                  <c:v>3yr Avg</c:v>
                </c:pt>
              </c:strCache>
            </c:strRef>
          </c:tx>
          <c:spPr>
            <a:solidFill>
              <a:srgbClr val="80A1B6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2.0512820512820513E-2"/>
                  <c:y val="-7.555555555555552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A9E-4DA7-8408-02C0D25816BD}"/>
                </c:ext>
              </c:extLst>
            </c:dLbl>
            <c:dLbl>
              <c:idx val="1"/>
              <c:layout>
                <c:manualLayout>
                  <c:x val="4.871794871794867E-2"/>
                  <c:y val="-2.66666666666666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A9E-4DA7-8408-02C0D25816BD}"/>
                </c:ext>
              </c:extLst>
            </c:dLbl>
            <c:dLbl>
              <c:idx val="2"/>
              <c:layout>
                <c:manualLayout>
                  <c:x val="2.3076923076923078E-2"/>
                  <c:y val="-4.22222222222223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A9E-4DA7-8408-02C0D25816BD}"/>
                </c:ext>
              </c:extLst>
            </c:dLbl>
            <c:dLbl>
              <c:idx val="3"/>
              <c:layout>
                <c:manualLayout>
                  <c:x val="4.3589743589743588E-2"/>
                  <c:y val="-2.222222222222230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A9E-4DA7-8408-02C0D25816BD}"/>
                </c:ext>
              </c:extLst>
            </c:dLbl>
            <c:dLbl>
              <c:idx val="4"/>
              <c:layout>
                <c:manualLayout>
                  <c:x val="4.1025641025640928E-2"/>
                  <c:y val="-0.0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2A9E-4DA7-8408-02C0D25816BD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88000">
                    <a:srgbClr val="80A1B6"/>
                  </a:gs>
                </a:gsLst>
                <a:lin ang="5400000" scaled="0"/>
              </a:gradFill>
              <a:ln w="12700" cap="rnd" cmpd="sng" algn="ctr">
                <a:solidFill>
                  <a:schemeClr val="accent2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rms_pivots!$I$47:$I$51</c:f>
              <c:strCache>
                <c:ptCount val="5"/>
                <c:pt idx="0">
                  <c:v>ALL OTHER</c:v>
                </c:pt>
                <c:pt idx="1">
                  <c:v>DRUG LAW VIOLATION</c:v>
                </c:pt>
                <c:pt idx="2">
                  <c:v>DISORDERLY CONDUCT</c:v>
                </c:pt>
                <c:pt idx="3">
                  <c:v>LIQUOR / TOBACCO LAW VIOLATION</c:v>
                </c:pt>
                <c:pt idx="4">
                  <c:v>DUII</c:v>
                </c:pt>
              </c:strCache>
            </c:strRef>
          </c:cat>
          <c:val>
            <c:numRef>
              <c:f>rms_pivots!$J$47:$J$51</c:f>
              <c:numCache>
                <c:formatCode>0.0</c:formatCode>
                <c:ptCount val="5"/>
                <c:pt idx="0">
                  <c:v>2606</c:v>
                </c:pt>
                <c:pt idx="1">
                  <c:v>1255</c:v>
                </c:pt>
                <c:pt idx="2">
                  <c:v>858.33333333333337</c:v>
                </c:pt>
                <c:pt idx="3">
                  <c:v>818</c:v>
                </c:pt>
                <c:pt idx="4">
                  <c:v>716.66666666666663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2A9E-4DA7-8408-02C0D25816BD}"/>
            </c:ext>
          </c:extLst>
        </c:ser>
        <c:ser>
          <c:idx val="1"/>
          <c:order val="1"/>
          <c:tx>
            <c:strRef>
              <c:f>rms_pivots!$K$15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rgbClr val="005DAA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6.0256410256410209E-2"/>
                  <c:y val="-2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A9E-4DA7-8408-02C0D25816BD}"/>
                </c:ext>
              </c:extLst>
            </c:dLbl>
            <c:dLbl>
              <c:idx val="1"/>
              <c:layout>
                <c:manualLayout>
                  <c:x val="4.1025641025640977E-2"/>
                  <c:y val="-3.1111111111111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A9E-4DA7-8408-02C0D25816BD}"/>
                </c:ext>
              </c:extLst>
            </c:dLbl>
            <c:dLbl>
              <c:idx val="2"/>
              <c:layout>
                <c:manualLayout>
                  <c:x val="4.7435897435897434E-2"/>
                  <c:y val="-8.888888888888888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A9E-4DA7-8408-02C0D25816BD}"/>
                </c:ext>
              </c:extLst>
            </c:dLbl>
            <c:dLbl>
              <c:idx val="3"/>
              <c:layout>
                <c:manualLayout>
                  <c:x val="3.9743589743589741E-2"/>
                  <c:y val="-1.777777777777785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A9E-4DA7-8408-02C0D25816BD}"/>
                </c:ext>
              </c:extLst>
            </c:dLbl>
            <c:dLbl>
              <c:idx val="4"/>
              <c:layout>
                <c:manualLayout>
                  <c:x val="4.3589743589743497E-2"/>
                  <c:y val="-2.000000000000016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A9E-4DA7-8408-02C0D25816BD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88000">
                    <a:srgbClr val="005DAA"/>
                  </a:gs>
                </a:gsLst>
                <a:lin ang="5400000" scaled="0"/>
              </a:gradFill>
              <a:ln w="12700" cap="rnd" cmpd="sng" algn="ctr">
                <a:solidFill>
                  <a:schemeClr val="accent2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rms_pivots!$I$47:$I$51</c:f>
              <c:strCache>
                <c:ptCount val="5"/>
                <c:pt idx="0">
                  <c:v>ALL OTHER</c:v>
                </c:pt>
                <c:pt idx="1">
                  <c:v>DRUG LAW VIOLATION</c:v>
                </c:pt>
                <c:pt idx="2">
                  <c:v>DISORDERLY CONDUCT</c:v>
                </c:pt>
                <c:pt idx="3">
                  <c:v>LIQUOR / TOBACCO LAW VIOLATION</c:v>
                </c:pt>
                <c:pt idx="4">
                  <c:v>DUII</c:v>
                </c:pt>
              </c:strCache>
            </c:strRef>
          </c:cat>
          <c:val>
            <c:numRef>
              <c:f>rms_pivots!$K$47:$K$51</c:f>
              <c:numCache>
                <c:formatCode>General</c:formatCode>
                <c:ptCount val="5"/>
                <c:pt idx="0">
                  <c:v>2870</c:v>
                </c:pt>
                <c:pt idx="1">
                  <c:v>942</c:v>
                </c:pt>
                <c:pt idx="2">
                  <c:v>1028</c:v>
                </c:pt>
                <c:pt idx="3">
                  <c:v>406</c:v>
                </c:pt>
                <c:pt idx="4">
                  <c:v>507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A9E-4DA7-8408-02C0D2581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209397464"/>
        <c:axId val="209397856"/>
        <c:axId val="0"/>
      </c:bar3DChart>
      <c:catAx>
        <c:axId val="2093974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397856"/>
        <c:crosses val="autoZero"/>
        <c:auto val="1"/>
        <c:lblAlgn val="ctr"/>
        <c:lblOffset val="100"/>
        <c:tickLblSkip val="1"/>
        <c:noMultiLvlLbl val="0"/>
      </c:catAx>
      <c:valAx>
        <c:axId val="209397856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Crime Occurrences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397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b="1" dirty="0"/>
              <a:t>Reported Crime Occurrences</a:t>
            </a:r>
          </a:p>
          <a:p>
            <a:pPr>
              <a:defRPr/>
            </a:pPr>
            <a:r>
              <a:rPr lang="en-US" sz="1600" dirty="0"/>
              <a:t>(Low-Frequency Society Offenses)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0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rms_pivots!$J$15</c:f>
              <c:strCache>
                <c:ptCount val="1"/>
                <c:pt idx="0">
                  <c:v>3yr Avg</c:v>
                </c:pt>
              </c:strCache>
            </c:strRef>
          </c:tx>
          <c:spPr>
            <a:solidFill>
              <a:srgbClr val="80A1B6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5.2564102564102565E-2"/>
                  <c:y val="-1.777777777777777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461-49C6-9146-4D694D01E793}"/>
                </c:ext>
              </c:extLst>
            </c:dLbl>
            <c:dLbl>
              <c:idx val="1"/>
              <c:layout>
                <c:manualLayout>
                  <c:x val="4.230769230769231E-2"/>
                  <c:y val="-4.222222222222226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461-49C6-9146-4D694D01E793}"/>
                </c:ext>
              </c:extLst>
            </c:dLbl>
            <c:dLbl>
              <c:idx val="2"/>
              <c:layout>
                <c:manualLayout>
                  <c:x val="5.2564102564102468E-2"/>
                  <c:y val="-3.11111111111111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2461-49C6-9146-4D694D01E793}"/>
                </c:ext>
              </c:extLst>
            </c:dLbl>
            <c:dLbl>
              <c:idx val="3"/>
              <c:layout>
                <c:manualLayout>
                  <c:x val="4.8717948717948621E-2"/>
                  <c:y val="-0.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461-49C6-9146-4D694D01E793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88000">
                    <a:srgbClr val="80A1B6"/>
                  </a:gs>
                </a:gsLst>
                <a:lin ang="5400000" scaled="0"/>
              </a:gradFill>
              <a:ln w="12700" cap="rnd" cmpd="sng" algn="ctr">
                <a:solidFill>
                  <a:schemeClr val="accent2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rms_pivots!$I$52:$I$55</c:f>
              <c:strCache>
                <c:ptCount val="4"/>
                <c:pt idx="0">
                  <c:v>WEAPON LAW VIOLATION</c:v>
                </c:pt>
                <c:pt idx="1">
                  <c:v>RUNAWAY</c:v>
                </c:pt>
                <c:pt idx="2">
                  <c:v>PROSTITUTION</c:v>
                </c:pt>
                <c:pt idx="3">
                  <c:v>CURFEW</c:v>
                </c:pt>
              </c:strCache>
            </c:strRef>
          </c:cat>
          <c:val>
            <c:numRef>
              <c:f>rms_pivots!$J$52:$J$55</c:f>
              <c:numCache>
                <c:formatCode>0.0</c:formatCode>
                <c:ptCount val="4"/>
                <c:pt idx="0">
                  <c:v>194.66666666666666</c:v>
                </c:pt>
                <c:pt idx="1">
                  <c:v>169.33333333333334</c:v>
                </c:pt>
                <c:pt idx="2">
                  <c:v>24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461-49C6-9146-4D694D01E793}"/>
            </c:ext>
          </c:extLst>
        </c:ser>
        <c:ser>
          <c:idx val="1"/>
          <c:order val="1"/>
          <c:tx>
            <c:strRef>
              <c:f>rms_pivots!$K$15</c:f>
              <c:strCache>
                <c:ptCount val="1"/>
                <c:pt idx="0">
                  <c:v>2018</c:v>
                </c:pt>
              </c:strCache>
            </c:strRef>
          </c:tx>
          <c:spPr>
            <a:solidFill>
              <a:srgbClr val="005DAA"/>
            </a:solidFill>
            <a:ln>
              <a:noFill/>
            </a:ln>
            <a:effectLst>
              <a:outerShdw blurRad="152400" dist="317500" dir="5400000" sx="90000" sy="-19000" rotWithShape="0">
                <a:prstClr val="black">
                  <a:alpha val="15000"/>
                </a:prstClr>
              </a:outerShdw>
            </a:effectLst>
            <a:scene3d>
              <a:camera prst="orthographicFront"/>
              <a:lightRig rig="threePt" dir="t"/>
            </a:scene3d>
            <a:sp3d>
              <a:bevelT w="38100" h="38100"/>
              <a:bevelB w="12700" h="12700"/>
            </a:sp3d>
          </c:spPr>
          <c:invertIfNegative val="0"/>
          <c:dLbls>
            <c:dLbl>
              <c:idx val="0"/>
              <c:layout>
                <c:manualLayout>
                  <c:x val="0.05"/>
                  <c:y val="-2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461-49C6-9146-4D694D01E793}"/>
                </c:ext>
              </c:extLst>
            </c:dLbl>
            <c:dLbl>
              <c:idx val="1"/>
              <c:layout>
                <c:manualLayout>
                  <c:x val="5.7692307692307696E-2"/>
                  <c:y val="-2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461-49C6-9146-4D694D01E793}"/>
                </c:ext>
              </c:extLst>
            </c:dLbl>
            <c:dLbl>
              <c:idx val="2"/>
              <c:layout>
                <c:manualLayout>
                  <c:x val="5.128205128205128E-2"/>
                  <c:y val="-2.222222222222222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461-49C6-9146-4D694D01E793}"/>
                </c:ext>
              </c:extLst>
            </c:dLbl>
            <c:dLbl>
              <c:idx val="3"/>
              <c:layout>
                <c:manualLayout>
                  <c:x val="4.3589743589743588E-2"/>
                  <c:y val="-0.04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461-49C6-9146-4D694D01E793}"/>
                </c:ext>
              </c:extLst>
            </c:dLbl>
            <c:numFmt formatCode="#,##0" sourceLinked="0"/>
            <c:spPr>
              <a:gradFill rotWithShape="1"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88000">
                    <a:srgbClr val="005DAA"/>
                  </a:gs>
                </a:gsLst>
                <a:lin ang="5400000" scaled="0"/>
              </a:gradFill>
              <a:ln w="12700" cap="rnd" cmpd="sng" algn="ctr">
                <a:solidFill>
                  <a:schemeClr val="accent2"/>
                </a:solidFill>
                <a:prstDash val="solid"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rms_pivots!$I$52:$I$55</c:f>
              <c:strCache>
                <c:ptCount val="4"/>
                <c:pt idx="0">
                  <c:v>WEAPON LAW VIOLATION</c:v>
                </c:pt>
                <c:pt idx="1">
                  <c:v>RUNAWAY</c:v>
                </c:pt>
                <c:pt idx="2">
                  <c:v>PROSTITUTION</c:v>
                </c:pt>
                <c:pt idx="3">
                  <c:v>CURFEW</c:v>
                </c:pt>
              </c:strCache>
            </c:strRef>
          </c:cat>
          <c:val>
            <c:numRef>
              <c:f>rms_pivots!$K$52:$K$55</c:f>
              <c:numCache>
                <c:formatCode>General</c:formatCode>
                <c:ptCount val="4"/>
                <c:pt idx="0">
                  <c:v>156</c:v>
                </c:pt>
                <c:pt idx="1">
                  <c:v>175</c:v>
                </c:pt>
                <c:pt idx="2">
                  <c:v>15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2461-49C6-9146-4D694D01E79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shape val="box"/>
        <c:axId val="209398640"/>
        <c:axId val="209399032"/>
        <c:axId val="0"/>
      </c:bar3DChart>
      <c:catAx>
        <c:axId val="2093986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399032"/>
        <c:crosses val="autoZero"/>
        <c:auto val="1"/>
        <c:lblAlgn val="ctr"/>
        <c:lblOffset val="100"/>
        <c:noMultiLvlLbl val="0"/>
      </c:catAx>
      <c:valAx>
        <c:axId val="20939903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Crime Occurrences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6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#,##0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398640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DAD8159E-1636-47E7-8215-AA405D640950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7396B9B-C4D9-4631-90C3-9E7B3E9740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321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957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76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682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367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60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93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120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07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9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287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8498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8137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91641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329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0103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8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368DC-13D6-4997-B267-4954BD9DABCD}" type="datetimeFigureOut">
              <a:rPr lang="en-US" smtClean="0"/>
              <a:t>1/21/2020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7AB68B4-E4AB-40CA-A155-0A673A5D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42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Annual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Call and Reported Activity by Source and Category</a:t>
            </a:r>
          </a:p>
          <a:p>
            <a:endParaRPr lang="en-US" dirty="0"/>
          </a:p>
          <a:p>
            <a:r>
              <a:rPr lang="en-US" dirty="0"/>
              <a:t>(Mock-Up)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3050708"/>
            <a:ext cx="1019175" cy="10001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46092" y="2150692"/>
            <a:ext cx="1400175" cy="191723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62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Calls for Service</a:t>
            </a:r>
          </a:p>
        </p:txBody>
      </p:sp>
      <p:graphicFrame>
        <p:nvGraphicFramePr>
          <p:cNvPr id="16" name="Content Placeholder 1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3775283"/>
              </p:ext>
            </p:extLst>
          </p:nvPr>
        </p:nvGraphicFramePr>
        <p:xfrm>
          <a:off x="0" y="1143000"/>
          <a:ext cx="99060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10992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Content Placeholder 1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720498"/>
              </p:ext>
            </p:extLst>
          </p:nvPr>
        </p:nvGraphicFramePr>
        <p:xfrm>
          <a:off x="0" y="1143000"/>
          <a:ext cx="99060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Crime Categories</a:t>
            </a:r>
          </a:p>
        </p:txBody>
      </p:sp>
    </p:spTree>
    <p:extLst>
      <p:ext uri="{BB962C8B-B14F-4D97-AF65-F5344CB8AC3E}">
        <p14:creationId xmlns:p14="http://schemas.microsoft.com/office/powerpoint/2010/main" val="3709436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0018846"/>
              </p:ext>
            </p:extLst>
          </p:nvPr>
        </p:nvGraphicFramePr>
        <p:xfrm>
          <a:off x="0" y="1143000"/>
          <a:ext cx="99060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 Crime</a:t>
            </a:r>
          </a:p>
        </p:txBody>
      </p:sp>
    </p:spTree>
    <p:extLst>
      <p:ext uri="{BB962C8B-B14F-4D97-AF65-F5344CB8AC3E}">
        <p14:creationId xmlns:p14="http://schemas.microsoft.com/office/powerpoint/2010/main" val="3222387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3085664"/>
              </p:ext>
            </p:extLst>
          </p:nvPr>
        </p:nvGraphicFramePr>
        <p:xfrm>
          <a:off x="0" y="1143000"/>
          <a:ext cx="99060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 Crime</a:t>
            </a:r>
          </a:p>
        </p:txBody>
      </p:sp>
    </p:spTree>
    <p:extLst>
      <p:ext uri="{BB962C8B-B14F-4D97-AF65-F5344CB8AC3E}">
        <p14:creationId xmlns:p14="http://schemas.microsoft.com/office/powerpoint/2010/main" val="14333885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0791841"/>
              </p:ext>
            </p:extLst>
          </p:nvPr>
        </p:nvGraphicFramePr>
        <p:xfrm>
          <a:off x="0" y="1143000"/>
          <a:ext cx="99060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Crime</a:t>
            </a:r>
          </a:p>
        </p:txBody>
      </p:sp>
    </p:spTree>
    <p:extLst>
      <p:ext uri="{BB962C8B-B14F-4D97-AF65-F5344CB8AC3E}">
        <p14:creationId xmlns:p14="http://schemas.microsoft.com/office/powerpoint/2010/main" val="2922014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9096483"/>
              </p:ext>
            </p:extLst>
          </p:nvPr>
        </p:nvGraphicFramePr>
        <p:xfrm>
          <a:off x="0" y="1143000"/>
          <a:ext cx="99060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Crime</a:t>
            </a:r>
          </a:p>
        </p:txBody>
      </p:sp>
    </p:spTree>
    <p:extLst>
      <p:ext uri="{BB962C8B-B14F-4D97-AF65-F5344CB8AC3E}">
        <p14:creationId xmlns:p14="http://schemas.microsoft.com/office/powerpoint/2010/main" val="2071354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8272011"/>
              </p:ext>
            </p:extLst>
          </p:nvPr>
        </p:nvGraphicFramePr>
        <p:xfrm>
          <a:off x="0" y="1143000"/>
          <a:ext cx="99060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Society Crime</a:t>
            </a:r>
          </a:p>
        </p:txBody>
      </p:sp>
    </p:spTree>
    <p:extLst>
      <p:ext uri="{BB962C8B-B14F-4D97-AF65-F5344CB8AC3E}">
        <p14:creationId xmlns:p14="http://schemas.microsoft.com/office/powerpoint/2010/main" val="3506920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551387"/>
              </p:ext>
            </p:extLst>
          </p:nvPr>
        </p:nvGraphicFramePr>
        <p:xfrm>
          <a:off x="0" y="1143000"/>
          <a:ext cx="9906000" cy="571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Society Crime</a:t>
            </a:r>
          </a:p>
        </p:txBody>
      </p:sp>
    </p:spTree>
    <p:extLst>
      <p:ext uri="{BB962C8B-B14F-4D97-AF65-F5344CB8AC3E}">
        <p14:creationId xmlns:p14="http://schemas.microsoft.com/office/powerpoint/2010/main" val="3736567763"/>
      </p:ext>
    </p:extLst>
  </p:cSld>
  <p:clrMapOvr>
    <a:masterClrMapping/>
  </p:clrMapOvr>
</p:sld>
</file>

<file path=ppt/theme/theme1.xml><?xml version="1.0" encoding="utf-8"?>
<a:theme xmlns:a="http://schemas.openxmlformats.org/drawingml/2006/main" name="COEAndAffiliatesPowerPoint">
  <a:themeElements>
    <a:clrScheme name="COEGraphicStandards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B0BC22"/>
      </a:accent1>
      <a:accent2>
        <a:srgbClr val="5091CD"/>
      </a:accent2>
      <a:accent3>
        <a:srgbClr val="FFD24F"/>
      </a:accent3>
      <a:accent4>
        <a:srgbClr val="F58025"/>
      </a:accent4>
      <a:accent5>
        <a:srgbClr val="BF311A"/>
      </a:accent5>
      <a:accent6>
        <a:srgbClr val="9E6614"/>
      </a:accent6>
      <a:hlink>
        <a:srgbClr val="005DAA"/>
      </a:hlink>
      <a:folHlink>
        <a:srgbClr val="5091CD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EAndAffiliatesPowerPoint" id="{210F0C62-37F6-43B9-9421-E46C4AC77891}" vid="{EFABB872-7442-4B6E-A083-D5E3A4369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79DB516ED59C4AB730B429B551EA53" ma:contentTypeVersion="11" ma:contentTypeDescription="Create a new document." ma:contentTypeScope="" ma:versionID="eb0efe198769aac5101bb20ff5e9133d">
  <xsd:schema xmlns:xsd="http://www.w3.org/2001/XMLSchema" xmlns:xs="http://www.w3.org/2001/XMLSchema" xmlns:p="http://schemas.microsoft.com/office/2006/metadata/properties" xmlns:ns3="20a34384-ee9a-4c10-9965-c19c41d7b5ff" xmlns:ns4="376d1cec-a3fc-4b75-96cd-9e16f2b80373" targetNamespace="http://schemas.microsoft.com/office/2006/metadata/properties" ma:root="true" ma:fieldsID="217221970407173e8e74315192691b90" ns3:_="" ns4:_="">
    <xsd:import namespace="20a34384-ee9a-4c10-9965-c19c41d7b5ff"/>
    <xsd:import namespace="376d1cec-a3fc-4b75-96cd-9e16f2b8037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34384-ee9a-4c10-9965-c19c41d7b5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6d1cec-a3fc-4b75-96cd-9e16f2b80373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927F82-E907-4D41-8D12-CA3C77CB2D9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a34384-ee9a-4c10-9965-c19c41d7b5ff"/>
    <ds:schemaRef ds:uri="376d1cec-a3fc-4b75-96cd-9e16f2b803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81A8535-A2C7-442E-B6AB-F166A36E12A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ED5E4E-EB7E-4703-A280-029BB2043BF7}">
  <ds:schemaRefs>
    <ds:schemaRef ds:uri="http://schemas.microsoft.com/office/2006/metadata/properties"/>
    <ds:schemaRef ds:uri="http://purl.org/dc/terms/"/>
    <ds:schemaRef ds:uri="376d1cec-a3fc-4b75-96cd-9e16f2b80373"/>
    <ds:schemaRef ds:uri="http://schemas.microsoft.com/office/2006/documentManagement/types"/>
    <ds:schemaRef ds:uri="http://schemas.openxmlformats.org/package/2006/metadata/core-properties"/>
    <ds:schemaRef ds:uri="http://www.w3.org/XML/1998/namespace"/>
    <ds:schemaRef ds:uri="http://purl.org/dc/elements/1.1/"/>
    <ds:schemaRef ds:uri="http://schemas.microsoft.com/office/infopath/2007/PartnerControls"/>
    <ds:schemaRef ds:uri="20a34384-ee9a-4c10-9965-c19c41d7b5ff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COEAndAffiliatesPowerPoint</Template>
  <TotalTime>11550</TotalTime>
  <Words>179</Words>
  <Application>Microsoft Office PowerPoint</Application>
  <PresentationFormat>Widescreen</PresentationFormat>
  <Paragraphs>104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Wingdings 3</vt:lpstr>
      <vt:lpstr>COEAndAffiliatesPowerPoint</vt:lpstr>
      <vt:lpstr>Annual Report</vt:lpstr>
      <vt:lpstr>Calls for Service</vt:lpstr>
      <vt:lpstr>Crime Categories</vt:lpstr>
      <vt:lpstr>Person Crime</vt:lpstr>
      <vt:lpstr>Person Crime</vt:lpstr>
      <vt:lpstr>Property Crime</vt:lpstr>
      <vt:lpstr>Property Crime</vt:lpstr>
      <vt:lpstr>Society Crime</vt:lpstr>
      <vt:lpstr>Society Crime</vt:lpstr>
    </vt:vector>
  </TitlesOfParts>
  <Company>City of Eugene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Annual Report</dc:title>
  <dc:creator>HADLEY James F</dc:creator>
  <cp:lastModifiedBy>HUGHES Josh L</cp:lastModifiedBy>
  <cp:revision>33</cp:revision>
  <cp:lastPrinted>2019-03-04T19:14:08Z</cp:lastPrinted>
  <dcterms:created xsi:type="dcterms:W3CDTF">2019-03-04T17:28:16Z</dcterms:created>
  <dcterms:modified xsi:type="dcterms:W3CDTF">2020-01-29T17:54:39Z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0x0101005179DB516ED59C4AB730B429B551EA53</vt:lpwstr>
  </property>
</Properties>
</file>